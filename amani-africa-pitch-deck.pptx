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503920" y="5486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AMANI AFRICA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9F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De-escalating nationality-based violence before it starts.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22960" y="3977640"/>
            <a:ext cx="502920" cy="3657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 × Andela Hackathon  |  Stability &amp; Social Cohesion + Safety, Reporting &amp; Protection tracks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Andela Talent Network / Learning Community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47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Rumors escalate faster than the truth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685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claims about a nationality or community spread on WhatsApp and social media faster than any official channel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crowd forms, it's too late to correct the record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pattern behind incidents like tension between Kenyan and Burundian communities, and attacks on Kenyan, Ghanaian, and other African traders' businesses in South Africa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 way today for someone to check a claim, report a concern confidentially, or get help before it escalates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0" y="1600200"/>
            <a:ext cx="3840480" cy="4160520"/>
          </a:xfrm>
          <a:prstGeom prst="roundRect">
            <a:avLst>
              <a:gd name="adj" fmla="val 1905"/>
            </a:avLst>
          </a:prstGeom>
          <a:solidFill>
            <a:srgbClr val="F4F7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924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92440" y="221284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D9A44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92440" y="2724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1,000 people in minutes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FACT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92440" y="3675888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1F6F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92440" y="4187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hours to catch up, if it ever does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two is where violence happens.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47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roles, one trusted loop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18608" cy="4206240"/>
          </a:xfrm>
          <a:prstGeom prst="roundRect">
            <a:avLst>
              <a:gd name="adj" fmla="val 1304"/>
            </a:avLst>
          </a:prstGeom>
          <a:solidFill>
            <a:srgbClr val="F4F7F5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131" y="2099691"/>
            <a:ext cx="326898" cy="32689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039112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Members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2788920"/>
            <a:ext cx="458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Residents, traders, and business owners of any nationality.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114800"/>
            <a:ext cx="458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an area is calm before traveling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concern confidentially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protection contact if at risk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24448" y="1600200"/>
            <a:ext cx="5318608" cy="4206240"/>
          </a:xfrm>
          <a:prstGeom prst="roundRect">
            <a:avLst>
              <a:gd name="adj" fmla="val 1304"/>
            </a:avLst>
          </a:prstGeom>
          <a:solidFill>
            <a:srgbClr val="F4F7F5"/>
          </a:solidFill>
          <a:ln/>
        </p:spPr>
      </p:sp>
      <p:sp>
        <p:nvSpPr>
          <p:cNvPr id="13" name="Shape 9"/>
          <p:cNvSpPr/>
          <p:nvPr/>
        </p:nvSpPr>
        <p:spPr>
          <a:xfrm>
            <a:off x="6690208" y="1965960"/>
            <a:ext cx="594360" cy="59436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939" y="2099691"/>
            <a:ext cx="326898" cy="32689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67448" y="2039112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Verifiers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6690208" y="2788920"/>
            <a:ext cx="458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trusted, and deliberately cross-community group — a local leader, a representative of the affected community, and a neutral party such as an NGO or faith leader.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690208" y="4114800"/>
            <a:ext cx="458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debunk specific claims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area's tension level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single-community panel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47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 source, two views, real time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394460" y="2103120"/>
            <a:ext cx="914400" cy="91440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" y="2304288"/>
            <a:ext cx="512064" cy="5120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052828" y="1993392"/>
            <a:ext cx="329184" cy="329184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05282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submitted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with photo or video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3063240" y="2331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4229100" y="2103120"/>
            <a:ext cx="914400" cy="91440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268" y="2304288"/>
            <a:ext cx="512064" cy="5120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887468" y="1993392"/>
            <a:ext cx="329184" cy="329184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88746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52044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reviews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352044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cross-community check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897880" y="2331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0" name="Shape 15"/>
          <p:cNvSpPr/>
          <p:nvPr/>
        </p:nvSpPr>
        <p:spPr>
          <a:xfrm>
            <a:off x="7063740" y="2103120"/>
            <a:ext cx="914400" cy="91440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908" y="2304288"/>
            <a:ext cx="512064" cy="51206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722108" y="1993392"/>
            <a:ext cx="329184" cy="329184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72210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35508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posted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635508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 / Unverified + why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8732520" y="2331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9898380" y="2103120"/>
            <a:ext cx="914400" cy="91440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9548" y="2304288"/>
            <a:ext cx="512064" cy="512064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10556748" y="1993392"/>
            <a:ext cx="329184" cy="329184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055674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918972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status updates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918972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for everyone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48640" y="47091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/>
        </p:spPr>
      </p:sp>
      <p:sp>
        <p:nvSpPr>
          <p:cNvPr id="34" name="Shape 27"/>
          <p:cNvSpPr/>
          <p:nvPr/>
        </p:nvSpPr>
        <p:spPr>
          <a:xfrm>
            <a:off x="822960" y="4910328"/>
            <a:ext cx="512064" cy="512064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74" y="5025542"/>
            <a:ext cx="281635" cy="28163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508760" y="470916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 powers both a web app and a real WhatsApp number, via Twilio.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47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loop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85800" y="173736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4F7F5"/>
          </a:solidFill>
          <a:ln w="12700">
            <a:solidFill>
              <a:srgbClr val="E1E6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2057400"/>
            <a:ext cx="548640" cy="54864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" y="2180844"/>
            <a:ext cx="301752" cy="30175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Verifier Console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1005840" y="2834640"/>
            <a:ext cx="3566160" cy="502920"/>
          </a:xfrm>
          <a:prstGeom prst="roundRect">
            <a:avLst>
              <a:gd name="adj" fmla="val 90909"/>
            </a:avLst>
          </a:prstGeom>
          <a:solidFill>
            <a:srgbClr val="FFFFFF"/>
          </a:solidFill>
          <a:ln w="9525">
            <a:solidFill>
              <a:srgbClr val="E1E6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8872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— Green / Amber / Red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005840" y="3493008"/>
            <a:ext cx="3566160" cy="502920"/>
          </a:xfrm>
          <a:prstGeom prst="roundRect">
            <a:avLst>
              <a:gd name="adj" fmla="val 90909"/>
            </a:avLst>
          </a:prstGeom>
          <a:solidFill>
            <a:srgbClr val="FFFFFF"/>
          </a:solidFill>
          <a:ln w="9525">
            <a:solidFill>
              <a:srgbClr val="E1E6E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188720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confidential reports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005840" y="4151376"/>
            <a:ext cx="3566160" cy="502920"/>
          </a:xfrm>
          <a:prstGeom prst="roundRect">
            <a:avLst>
              <a:gd name="adj" fmla="val 90909"/>
            </a:avLst>
          </a:prstGeom>
          <a:solidFill>
            <a:srgbClr val="FFFFFF"/>
          </a:solidFill>
          <a:ln w="9525">
            <a:solidFill>
              <a:srgbClr val="E1E6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188720" y="41513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+ protection queue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299655" y="173736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4F7F5"/>
          </a:solidFill>
          <a:ln w="12700">
            <a:solidFill>
              <a:srgbClr val="E1E6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619695" y="2057400"/>
            <a:ext cx="548640" cy="54864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139" y="218084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05495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Assistant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7619695" y="2834640"/>
            <a:ext cx="3566160" cy="502920"/>
          </a:xfrm>
          <a:prstGeom prst="roundRect">
            <a:avLst>
              <a:gd name="adj" fmla="val 90909"/>
            </a:avLst>
          </a:prstGeom>
          <a:solidFill>
            <a:srgbClr val="FFFFFF"/>
          </a:solidFill>
          <a:ln w="9525">
            <a:solidFill>
              <a:srgbClr val="E1E6E3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802575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WhatsApp-style chat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619695" y="3493008"/>
            <a:ext cx="3566160" cy="502920"/>
          </a:xfrm>
          <a:prstGeom prst="roundRect">
            <a:avLst>
              <a:gd name="adj" fmla="val 90909"/>
            </a:avLst>
          </a:prstGeom>
          <a:solidFill>
            <a:srgbClr val="FFFFFF"/>
          </a:solidFill>
          <a:ln w="9525">
            <a:solidFill>
              <a:srgbClr val="E1E6E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802575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replies, minimal typing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7619695" y="4151376"/>
            <a:ext cx="3566160" cy="502920"/>
          </a:xfrm>
          <a:prstGeom prst="roundRect">
            <a:avLst>
              <a:gd name="adj" fmla="val 90909"/>
            </a:avLst>
          </a:prstGeom>
          <a:solidFill>
            <a:srgbClr val="FFFFFF"/>
          </a:solidFill>
          <a:ln w="9525">
            <a:solidFill>
              <a:srgbClr val="E1E6E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802575" y="41513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area status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4892040" y="2971800"/>
            <a:ext cx="2407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3600" dirty="0"/>
          </a:p>
        </p:txBody>
      </p:sp>
      <p:sp>
        <p:nvSpPr>
          <p:cNvPr id="27" name="Text 22"/>
          <p:cNvSpPr txBox="1"/>
          <p:nvPr/>
        </p:nvSpPr>
        <p:spPr>
          <a:xfrm>
            <a:off x="4892040" y="3840480"/>
            <a:ext cx="2407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sync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" y="54406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made in one view appears instantly in the other.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47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BY DESIGN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it can't be weaponized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18608" cy="1965960"/>
          </a:xfrm>
          <a:prstGeom prst="roundRect">
            <a:avLst>
              <a:gd name="adj" fmla="val 2791"/>
            </a:avLst>
          </a:prstGeom>
          <a:solidFill>
            <a:srgbClr val="F4F7F5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37" y="2124837"/>
            <a:ext cx="276606" cy="27660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01168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identity registry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0604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 or vulnerable-group membership is never logged or listed anywhere.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24448" y="1691640"/>
            <a:ext cx="5318608" cy="1965960"/>
          </a:xfrm>
          <a:prstGeom prst="roundRect">
            <a:avLst>
              <a:gd name="adj" fmla="val 2791"/>
            </a:avLst>
          </a:prstGeom>
          <a:solidFill>
            <a:srgbClr val="F4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6644488" y="2011680"/>
            <a:ext cx="502920" cy="50292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645" y="2124837"/>
            <a:ext cx="276606" cy="27660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30288" y="201168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Anonymous by default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6644488" y="260604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contact info is optional and never shown publicly.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931920"/>
            <a:ext cx="5318608" cy="1965960"/>
          </a:xfrm>
          <a:prstGeom prst="roundRect">
            <a:avLst>
              <a:gd name="adj" fmla="val 2791"/>
            </a:avLst>
          </a:prstGeom>
          <a:solidFill>
            <a:srgbClr val="F4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" y="436511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425196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Verifier-only escalation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4632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level changes only by verifier action — never automatically from raw report volume.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24448" y="3931920"/>
            <a:ext cx="5318608" cy="1965960"/>
          </a:xfrm>
          <a:prstGeom prst="roundRect">
            <a:avLst>
              <a:gd name="adj" fmla="val 2791"/>
            </a:avLst>
          </a:prstGeom>
          <a:solidFill>
            <a:srgbClr val="F4F7F5"/>
          </a:solidFill>
          <a:ln/>
        </p:spPr>
      </p:sp>
      <p:sp>
        <p:nvSpPr>
          <p:cNvPr id="22" name="Shape 16"/>
          <p:cNvSpPr/>
          <p:nvPr/>
        </p:nvSpPr>
        <p:spPr>
          <a:xfrm>
            <a:off x="6644488" y="4251960"/>
            <a:ext cx="502920" cy="50292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645" y="4365117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30288" y="425196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Cross-community verifiers</a:t>
            </a:r>
            <a:endParaRPr lang="en-US" sz="1550" dirty="0"/>
          </a:p>
        </p:txBody>
      </p:sp>
      <p:sp>
        <p:nvSpPr>
          <p:cNvPr id="25" name="Text 18"/>
          <p:cNvSpPr txBox="1"/>
          <p:nvPr/>
        </p:nvSpPr>
        <p:spPr>
          <a:xfrm>
            <a:off x="6644488" y="484632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capture by the same narrative the tool exists to counter.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47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AI USAGE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AI-assisted development, real integrations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642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206240" y="1664208"/>
            <a:ext cx="7436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intent classification (safety check / report / protection request / fact-check / status) and Swahili translation.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2870759"/>
            <a:ext cx="311810" cy="31181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715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fallback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206240" y="2715768"/>
            <a:ext cx="7436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never breaks without an API key — a deliberate reliability choice for a judged, timed demo.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794760"/>
            <a:ext cx="566928" cy="56692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3922319"/>
            <a:ext cx="311810" cy="31181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37673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WhatsApp integration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4206240" y="3767328"/>
            <a:ext cx="7436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Twilio — not a mockup. The same bot logic powers both the web simulator and the real number.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4846320"/>
            <a:ext cx="566928" cy="56692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99" y="4973879"/>
            <a:ext cx="311810" cy="31181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48188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Claude Code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4206240" y="4818888"/>
            <a:ext cx="7436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Node/Express backend, Leaflet/OpenStreetMap live map, vanilla JS frontend — developed collaboratively end to end.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47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extend, not to stay Kenya-only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393338" cy="128016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3393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23160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demoed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99178" y="1645920"/>
            <a:ext cx="3393338" cy="128016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399178" y="1691640"/>
            <a:ext cx="3393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399178" y="2423160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modeled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49717" y="1645920"/>
            <a:ext cx="3393338" cy="128016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49717" y="1691640"/>
            <a:ext cx="3393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249717" y="2423160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safeguards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246120"/>
            <a:ext cx="5318608" cy="2606040"/>
          </a:xfrm>
          <a:prstGeom prst="roundRect">
            <a:avLst>
              <a:gd name="adj" fmla="val 2105"/>
            </a:avLst>
          </a:prstGeom>
          <a:solidFill>
            <a:srgbClr val="F4F7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347472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grows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931920"/>
            <a:ext cx="47699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data is fully configurable — demo already spans Nairobi, Kisumu, Pretoria, and Durban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layer extends the same way Swahili was added, for any language Claude supports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24448" y="3246120"/>
            <a:ext cx="5318608" cy="2606040"/>
          </a:xfrm>
          <a:prstGeom prst="roundRect">
            <a:avLst>
              <a:gd name="adj" fmla="val 2105"/>
            </a:avLst>
          </a:prstGeom>
          <a:solidFill>
            <a:srgbClr val="F4F7F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98768" y="347472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598768" y="3931920"/>
            <a:ext cx="47699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 for people without WhatsApp/data access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database + authenticated verifier accounts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Rate-limiting / anomaly detection on report floods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detection from public social and news mentions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47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LASTS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outlast one news cycle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1910639"/>
            <a:ext cx="311810" cy="31181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7556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Reusable, not one-off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206240" y="1737360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area calms down, the deployment keeps running quietly in Green mode, ready for the next flare-up. A new hotspot is a config change, not a rebuild.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200400"/>
            <a:ext cx="566928" cy="56692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327959"/>
            <a:ext cx="311810" cy="31181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172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last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206240" y="3154680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open-crowd platforms depend on sustained unpaid moderation at scale. Amani Africa runs on a small, named, cross-community verifier role that fits inside an existing peace-committee mandate.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4617720"/>
            <a:ext cx="566928" cy="566928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745279"/>
            <a:ext cx="311810" cy="31181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5902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one region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4206240" y="4572000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rumor-driven tension pattern shows up in DRC intercommunal disputes and elsewhere. Scoped honestly: built for pre-escalation tension, not for operating inside active armed conflict.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503920" y="4572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640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DEVELOPING FURTHER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960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192024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1F332A"/>
          </a:solidFill>
          <a:ln/>
        </p:spPr>
      </p:sp>
      <p:sp>
        <p:nvSpPr>
          <p:cNvPr id="6" name="Shape 3"/>
          <p:cNvSpPr/>
          <p:nvPr/>
        </p:nvSpPr>
        <p:spPr>
          <a:xfrm>
            <a:off x="987552" y="1993392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81" y="2112721"/>
            <a:ext cx="291694" cy="29169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00784" y="19202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database (Postgres) instead of in-memory storage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274320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1F332A"/>
          </a:solidFill>
          <a:ln/>
        </p:spPr>
      </p:sp>
      <p:sp>
        <p:nvSpPr>
          <p:cNvPr id="10" name="Shape 6"/>
          <p:cNvSpPr/>
          <p:nvPr/>
        </p:nvSpPr>
        <p:spPr>
          <a:xfrm>
            <a:off x="987552" y="2816352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81" y="2935681"/>
            <a:ext cx="291694" cy="29169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00784" y="27432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Authenticated, enforced cross-community verifier accounts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22960" y="356616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1F332A"/>
          </a:solidFill>
          <a:ln/>
        </p:spPr>
      </p:sp>
      <p:sp>
        <p:nvSpPr>
          <p:cNvPr id="14" name="Shape 9"/>
          <p:cNvSpPr/>
          <p:nvPr/>
        </p:nvSpPr>
        <p:spPr>
          <a:xfrm>
            <a:off x="987552" y="3639312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81" y="3758641"/>
            <a:ext cx="291694" cy="29169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00784" y="356616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rumor detection from public social and news sources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822960" y="4480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C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"Information people can trust, before rumor becomes violence."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1F332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70" y="5151730"/>
            <a:ext cx="230429" cy="230429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53312" y="5074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github.com/peetlucas/amani-africa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to the judges, OSF, and Andela for the opportunity.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2026-09-20T00:02:31Z</dcterms:created>
  <dcterms:modified xsi:type="dcterms:W3CDTF">2026-09-20T00:02:31Z</dcterms:modified>
</cp:coreProperties>
</file>