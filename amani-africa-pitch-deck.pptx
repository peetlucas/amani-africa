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8503920" y="54864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AMANI AFRICA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429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AFC7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"Amani" — Swahili for peace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794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9F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De-escalating nationality-based violence before it starts.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822960" y="4526280"/>
            <a:ext cx="502920" cy="3657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47091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7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 × Andela Hackathon  |  Stability &amp; Social Cohesion + Safety, Reporting &amp; Protection tracks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6080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7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Andela Talent Network / Learning Community submission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3" y="605333"/>
            <a:ext cx="362102" cy="3621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34747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6217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Rumors escalate faster than the truth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00200"/>
            <a:ext cx="68580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Unverified claims about a nationality or community spread on WhatsApp and social media faster than any official channel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a crowd forms, it's too late to correct the record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pattern behind incidents like tension between Kenyan and Burundian communities, and attacks on Kenyan, Ghanaian, and other African traders' businesses in South Africa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fast way today for someone to check a claim, report a concern confidentially, or get help before it escalates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0" y="1600200"/>
            <a:ext cx="3840480" cy="4160520"/>
          </a:xfrm>
          <a:prstGeom prst="roundRect">
            <a:avLst>
              <a:gd name="adj" fmla="val 1905"/>
            </a:avLst>
          </a:prstGeom>
          <a:solidFill>
            <a:srgbClr val="F4F7F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092440" y="1874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RUMOR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092440" y="2212848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D9A44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092440" y="27249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1,000 people in minutes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092440" y="3337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F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FACT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92440" y="3675888"/>
            <a:ext cx="1024128" cy="457200"/>
          </a:xfrm>
          <a:prstGeom prst="roundRect">
            <a:avLst>
              <a:gd name="adj" fmla="val 12000"/>
            </a:avLst>
          </a:prstGeom>
          <a:solidFill>
            <a:srgbClr val="1F6F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92440" y="418795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hours to catch up, if it ever does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092440" y="48920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the two is where violence happens.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3" y="605333"/>
            <a:ext cx="362102" cy="3621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34747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IT'S FOR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6217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roles, one trusted loop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5318608" cy="4206240"/>
          </a:xfrm>
          <a:prstGeom prst="roundRect">
            <a:avLst>
              <a:gd name="adj" fmla="val 1304"/>
            </a:avLst>
          </a:prstGeom>
          <a:solidFill>
            <a:srgbClr val="F4F7F5"/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91640" y="2039112"/>
            <a:ext cx="385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Members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2788920"/>
            <a:ext cx="458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Residents, traders, and business owners of any nationality.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4114800"/>
            <a:ext cx="45870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if an area is calm before traveling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 concern confidentially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protection contact if at risk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324448" y="1600200"/>
            <a:ext cx="5318608" cy="4206240"/>
          </a:xfrm>
          <a:prstGeom prst="roundRect">
            <a:avLst>
              <a:gd name="adj" fmla="val 1304"/>
            </a:avLst>
          </a:prstGeom>
          <a:solidFill>
            <a:srgbClr val="F4F7F5"/>
          </a:solidFill>
          <a:ln/>
        </p:spPr>
      </p:sp>
      <p:sp>
        <p:nvSpPr>
          <p:cNvPr id="13" name="Shape 9"/>
          <p:cNvSpPr/>
          <p:nvPr/>
        </p:nvSpPr>
        <p:spPr>
          <a:xfrm>
            <a:off x="6690208" y="1965960"/>
            <a:ext cx="594360" cy="59436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3939" y="2099691"/>
            <a:ext cx="326898" cy="32689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467448" y="2039112"/>
            <a:ext cx="385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Verifiers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6690208" y="2788920"/>
            <a:ext cx="458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small, trusted, and deliberately cross-community group — a local leader, a representative of the affected community, and a neutral party such as an NGO or faith leader.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6690208" y="4114800"/>
            <a:ext cx="45870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or debunk specific claims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an area's tension level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 single-community panel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3" y="605333"/>
            <a:ext cx="362102" cy="3621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34747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6217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data source, two views, real time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1394460" y="2103120"/>
            <a:ext cx="914400" cy="91440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5628" y="2304288"/>
            <a:ext cx="512064" cy="51206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052828" y="1993392"/>
            <a:ext cx="329184" cy="329184"/>
          </a:xfrm>
          <a:prstGeom prst="ellipse">
            <a:avLst/>
          </a:prstGeom>
          <a:solidFill>
            <a:srgbClr val="D9A4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2052828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3154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submitted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6118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with photo or video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3063240" y="23317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1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3" name="Shape 9"/>
          <p:cNvSpPr/>
          <p:nvPr/>
        </p:nvSpPr>
        <p:spPr>
          <a:xfrm>
            <a:off x="4229100" y="2103120"/>
            <a:ext cx="914400" cy="91440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0268" y="2304288"/>
            <a:ext cx="512064" cy="51206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4887468" y="1993392"/>
            <a:ext cx="329184" cy="329184"/>
          </a:xfrm>
          <a:prstGeom prst="ellipse">
            <a:avLst/>
          </a:prstGeom>
          <a:solidFill>
            <a:srgbClr val="D9A4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887468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3520440" y="3154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reviews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3520440" y="36118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cross-community check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5897880" y="23317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1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20" name="Shape 15"/>
          <p:cNvSpPr/>
          <p:nvPr/>
        </p:nvSpPr>
        <p:spPr>
          <a:xfrm>
            <a:off x="7063740" y="2103120"/>
            <a:ext cx="914400" cy="91440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908" y="2304288"/>
            <a:ext cx="512064" cy="512064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7722108" y="1993392"/>
            <a:ext cx="329184" cy="329184"/>
          </a:xfrm>
          <a:prstGeom prst="ellipse">
            <a:avLst/>
          </a:prstGeom>
          <a:solidFill>
            <a:srgbClr val="D9A4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7722108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6355080" y="3154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Fact-check posted</a:t>
            </a:r>
            <a:endParaRPr lang="en-US" sz="1450" dirty="0"/>
          </a:p>
        </p:txBody>
      </p:sp>
      <p:sp>
        <p:nvSpPr>
          <p:cNvPr id="25" name="Text 19"/>
          <p:cNvSpPr txBox="1"/>
          <p:nvPr/>
        </p:nvSpPr>
        <p:spPr>
          <a:xfrm>
            <a:off x="6355080" y="36118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 / Unverified + why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8732520" y="23317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1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27" name="Shape 21"/>
          <p:cNvSpPr/>
          <p:nvPr/>
        </p:nvSpPr>
        <p:spPr>
          <a:xfrm>
            <a:off x="9898380" y="2103120"/>
            <a:ext cx="914400" cy="91440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9548" y="2304288"/>
            <a:ext cx="512064" cy="512064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10556748" y="1993392"/>
            <a:ext cx="329184" cy="329184"/>
          </a:xfrm>
          <a:prstGeom prst="ellipse">
            <a:avLst/>
          </a:prstGeom>
          <a:solidFill>
            <a:srgbClr val="D9A4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10556748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9189720" y="3154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status updates</a:t>
            </a:r>
            <a:endParaRPr lang="en-US" sz="1450" dirty="0"/>
          </a:p>
        </p:txBody>
      </p:sp>
      <p:sp>
        <p:nvSpPr>
          <p:cNvPr id="32" name="Text 25"/>
          <p:cNvSpPr txBox="1"/>
          <p:nvPr/>
        </p:nvSpPr>
        <p:spPr>
          <a:xfrm>
            <a:off x="9189720" y="36118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for everyone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548640" y="470916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/>
        </p:spPr>
      </p:sp>
      <p:sp>
        <p:nvSpPr>
          <p:cNvPr id="34" name="Shape 27"/>
          <p:cNvSpPr/>
          <p:nvPr/>
        </p:nvSpPr>
        <p:spPr>
          <a:xfrm>
            <a:off x="822960" y="4910328"/>
            <a:ext cx="512064" cy="512064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174" y="5025542"/>
            <a:ext cx="281635" cy="281635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508760" y="470916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backend powers both a web app and a real WhatsApp number, via Twilio.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3" y="605333"/>
            <a:ext cx="362102" cy="3621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34747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LIVE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6217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loop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85800" y="1737360"/>
            <a:ext cx="4206240" cy="3383280"/>
          </a:xfrm>
          <a:prstGeom prst="roundRect">
            <a:avLst>
              <a:gd name="adj" fmla="val 2162"/>
            </a:avLst>
          </a:prstGeom>
          <a:solidFill>
            <a:srgbClr val="F4F7F5"/>
          </a:solidFill>
          <a:ln w="12700">
            <a:solidFill>
              <a:srgbClr val="E1E6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05840" y="2057400"/>
            <a:ext cx="548640" cy="54864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" y="2180844"/>
            <a:ext cx="301752" cy="30175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91640" y="2103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Verifier Console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1005840" y="2834640"/>
            <a:ext cx="3566160" cy="502920"/>
          </a:xfrm>
          <a:prstGeom prst="roundRect">
            <a:avLst>
              <a:gd name="adj" fmla="val 90909"/>
            </a:avLst>
          </a:prstGeom>
          <a:solidFill>
            <a:srgbClr val="FFFFFF"/>
          </a:solidFill>
          <a:ln w="9525">
            <a:solidFill>
              <a:srgbClr val="E1E6E3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88720" y="28346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map — Green / Amber / Red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1005840" y="3493008"/>
            <a:ext cx="3566160" cy="502920"/>
          </a:xfrm>
          <a:prstGeom prst="roundRect">
            <a:avLst>
              <a:gd name="adj" fmla="val 90909"/>
            </a:avLst>
          </a:prstGeom>
          <a:solidFill>
            <a:srgbClr val="FFFFFF"/>
          </a:solidFill>
          <a:ln w="9525">
            <a:solidFill>
              <a:srgbClr val="E1E6E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188720" y="349300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Incoming confidential reports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1005840" y="4151376"/>
            <a:ext cx="3566160" cy="502920"/>
          </a:xfrm>
          <a:prstGeom prst="roundRect">
            <a:avLst>
              <a:gd name="adj" fmla="val 90909"/>
            </a:avLst>
          </a:prstGeom>
          <a:solidFill>
            <a:srgbClr val="FFFFFF"/>
          </a:solidFill>
          <a:ln w="9525">
            <a:solidFill>
              <a:srgbClr val="E1E6E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188720" y="415137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Fact-check + protection queue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299655" y="1737360"/>
            <a:ext cx="4206240" cy="3383280"/>
          </a:xfrm>
          <a:prstGeom prst="roundRect">
            <a:avLst>
              <a:gd name="adj" fmla="val 2162"/>
            </a:avLst>
          </a:prstGeom>
          <a:solidFill>
            <a:srgbClr val="F4F7F5"/>
          </a:solidFill>
          <a:ln w="12700">
            <a:solidFill>
              <a:srgbClr val="E1E6E3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619695" y="2057400"/>
            <a:ext cx="548640" cy="54864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3139" y="2180844"/>
            <a:ext cx="301752" cy="30175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05495" y="2103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Assistant</a:t>
            </a:r>
            <a:endParaRPr lang="en-US" sz="1700" dirty="0"/>
          </a:p>
        </p:txBody>
      </p:sp>
      <p:sp>
        <p:nvSpPr>
          <p:cNvPr id="20" name="Shape 15"/>
          <p:cNvSpPr/>
          <p:nvPr/>
        </p:nvSpPr>
        <p:spPr>
          <a:xfrm>
            <a:off x="7619695" y="2834640"/>
            <a:ext cx="3566160" cy="502920"/>
          </a:xfrm>
          <a:prstGeom prst="roundRect">
            <a:avLst>
              <a:gd name="adj" fmla="val 90909"/>
            </a:avLst>
          </a:prstGeom>
          <a:solidFill>
            <a:srgbClr val="FFFFFF"/>
          </a:solidFill>
          <a:ln w="9525">
            <a:solidFill>
              <a:srgbClr val="E1E6E3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802575" y="28346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WhatsApp-style chat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7619695" y="3493008"/>
            <a:ext cx="3566160" cy="502920"/>
          </a:xfrm>
          <a:prstGeom prst="roundRect">
            <a:avLst>
              <a:gd name="adj" fmla="val 90909"/>
            </a:avLst>
          </a:prstGeom>
          <a:solidFill>
            <a:srgbClr val="FFFFFF"/>
          </a:solidFill>
          <a:ln w="9525">
            <a:solidFill>
              <a:srgbClr val="E1E6E3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802575" y="349300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replies, minimal typing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7619695" y="4151376"/>
            <a:ext cx="3566160" cy="502920"/>
          </a:xfrm>
          <a:prstGeom prst="roundRect">
            <a:avLst>
              <a:gd name="adj" fmla="val 90909"/>
            </a:avLst>
          </a:prstGeom>
          <a:solidFill>
            <a:srgbClr val="FFFFFF"/>
          </a:solidFill>
          <a:ln w="9525">
            <a:solidFill>
              <a:srgbClr val="E1E6E3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802575" y="415137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area status</a:t>
            </a:r>
            <a:endParaRPr lang="en-US" sz="1250" dirty="0"/>
          </a:p>
        </p:txBody>
      </p:sp>
      <p:sp>
        <p:nvSpPr>
          <p:cNvPr id="26" name="Text 21"/>
          <p:cNvSpPr txBox="1"/>
          <p:nvPr/>
        </p:nvSpPr>
        <p:spPr>
          <a:xfrm>
            <a:off x="4892040" y="2971800"/>
            <a:ext cx="24076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3600" dirty="0"/>
          </a:p>
        </p:txBody>
      </p:sp>
      <p:sp>
        <p:nvSpPr>
          <p:cNvPr id="27" name="Text 22"/>
          <p:cNvSpPr txBox="1"/>
          <p:nvPr/>
        </p:nvSpPr>
        <p:spPr>
          <a:xfrm>
            <a:off x="4892040" y="3840480"/>
            <a:ext cx="2407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sync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685800" y="5440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report made in one view appears instantly in the other.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3" y="605333"/>
            <a:ext cx="362102" cy="3621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34747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BY DESIGN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6217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so it can't be weaponized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5318608" cy="1965960"/>
          </a:xfrm>
          <a:prstGeom prst="roundRect">
            <a:avLst>
              <a:gd name="adj" fmla="val 2791"/>
            </a:avLst>
          </a:prstGeom>
          <a:solidFill>
            <a:srgbClr val="F4F7F5"/>
          </a:solidFill>
          <a:ln/>
        </p:spPr>
      </p:sp>
      <p:sp>
        <p:nvSpPr>
          <p:cNvPr id="7" name="Shape 4"/>
          <p:cNvSpPr/>
          <p:nvPr/>
        </p:nvSpPr>
        <p:spPr>
          <a:xfrm>
            <a:off x="868680" y="2011680"/>
            <a:ext cx="502920" cy="50292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837" y="2124837"/>
            <a:ext cx="276606" cy="27660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54480" y="2011680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identity registry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868680" y="2606040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Nationality or vulnerable-group membership is never logged or listed anywhere.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324448" y="1691640"/>
            <a:ext cx="5318608" cy="1965960"/>
          </a:xfrm>
          <a:prstGeom prst="roundRect">
            <a:avLst>
              <a:gd name="adj" fmla="val 2791"/>
            </a:avLst>
          </a:prstGeom>
          <a:solidFill>
            <a:srgbClr val="F4F7F5"/>
          </a:solidFill>
          <a:ln/>
        </p:spPr>
      </p:sp>
      <p:sp>
        <p:nvSpPr>
          <p:cNvPr id="12" name="Shape 8"/>
          <p:cNvSpPr/>
          <p:nvPr/>
        </p:nvSpPr>
        <p:spPr>
          <a:xfrm>
            <a:off x="6644488" y="2011680"/>
            <a:ext cx="502920" cy="50292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7645" y="2124837"/>
            <a:ext cx="276606" cy="27660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330288" y="2011680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Anonymous by default</a:t>
            </a:r>
            <a:endParaRPr lang="en-US" sz="1550" dirty="0"/>
          </a:p>
        </p:txBody>
      </p:sp>
      <p:sp>
        <p:nvSpPr>
          <p:cNvPr id="15" name="Text 10"/>
          <p:cNvSpPr txBox="1"/>
          <p:nvPr/>
        </p:nvSpPr>
        <p:spPr>
          <a:xfrm>
            <a:off x="6644488" y="2606040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Reporter contact info is optional and never shown publicly.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48640" y="3931920"/>
            <a:ext cx="5318608" cy="1965960"/>
          </a:xfrm>
          <a:prstGeom prst="roundRect">
            <a:avLst>
              <a:gd name="adj" fmla="val 2791"/>
            </a:avLst>
          </a:prstGeom>
          <a:solidFill>
            <a:srgbClr val="F4F7F5"/>
          </a:solidFill>
          <a:ln/>
        </p:spPr>
      </p:sp>
      <p:sp>
        <p:nvSpPr>
          <p:cNvPr id="17" name="Shape 12"/>
          <p:cNvSpPr/>
          <p:nvPr/>
        </p:nvSpPr>
        <p:spPr>
          <a:xfrm>
            <a:off x="868680" y="4251960"/>
            <a:ext cx="502920" cy="50292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837" y="4365117"/>
            <a:ext cx="276606" cy="27660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54480" y="4251960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Verifier-only escalation</a:t>
            </a:r>
            <a:endParaRPr lang="en-US" sz="1550" dirty="0"/>
          </a:p>
        </p:txBody>
      </p:sp>
      <p:sp>
        <p:nvSpPr>
          <p:cNvPr id="20" name="Text 14"/>
          <p:cNvSpPr txBox="1"/>
          <p:nvPr/>
        </p:nvSpPr>
        <p:spPr>
          <a:xfrm>
            <a:off x="868680" y="4846320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Tension level changes only by verifier action — never automatically from raw report volume.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6324448" y="3931920"/>
            <a:ext cx="5318608" cy="1965960"/>
          </a:xfrm>
          <a:prstGeom prst="roundRect">
            <a:avLst>
              <a:gd name="adj" fmla="val 2791"/>
            </a:avLst>
          </a:prstGeom>
          <a:solidFill>
            <a:srgbClr val="F4F7F5"/>
          </a:solidFill>
          <a:ln/>
        </p:spPr>
      </p:sp>
      <p:sp>
        <p:nvSpPr>
          <p:cNvPr id="22" name="Shape 16"/>
          <p:cNvSpPr/>
          <p:nvPr/>
        </p:nvSpPr>
        <p:spPr>
          <a:xfrm>
            <a:off x="6644488" y="4251960"/>
            <a:ext cx="502920" cy="50292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7645" y="4365117"/>
            <a:ext cx="276606" cy="27660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330288" y="4251960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Cross-community verifiers</a:t>
            </a:r>
            <a:endParaRPr lang="en-US" sz="1550" dirty="0"/>
          </a:p>
        </p:txBody>
      </p:sp>
      <p:sp>
        <p:nvSpPr>
          <p:cNvPr id="25" name="Text 18"/>
          <p:cNvSpPr txBox="1"/>
          <p:nvPr/>
        </p:nvSpPr>
        <p:spPr>
          <a:xfrm>
            <a:off x="6644488" y="4846320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capture by the same narrative the tool exists to counter.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3" y="605333"/>
            <a:ext cx="362102" cy="3621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34747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&amp; AI USAGE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6217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with AI-assisted development, real integrations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566928" cy="56692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199" y="1819199"/>
            <a:ext cx="311810" cy="31181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166420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API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4206240" y="1664208"/>
            <a:ext cx="74368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intent classification (safety check / report / protection request / fact-check / status) and Swahili translation.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2743200"/>
            <a:ext cx="566928" cy="56692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199" y="2870759"/>
            <a:ext cx="311810" cy="31181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25880" y="271576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Keyword fallback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4206240" y="2715768"/>
            <a:ext cx="74368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never breaks without an API key — a deliberate reliability choice for a judged, timed demo.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548640" y="3794760"/>
            <a:ext cx="566928" cy="56692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199" y="3922319"/>
            <a:ext cx="311810" cy="31181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325880" y="376732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WhatsApp integration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4206240" y="3767328"/>
            <a:ext cx="74368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Twilio — not a mockup. The same bot logic powers both the web simulator and the real number.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48640" y="4846320"/>
            <a:ext cx="566928" cy="56692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199" y="4973879"/>
            <a:ext cx="311810" cy="31181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325880" y="48188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with Claude Code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4206240" y="4818888"/>
            <a:ext cx="74368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Node/Express backend, Leaflet/OpenStreetMap live map, vanilla JS frontend — developed collaboratively end to end.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3" y="605333"/>
            <a:ext cx="362102" cy="3621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34747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6217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extend, not to stay Kenya-only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3393338" cy="1280160"/>
          </a:xfrm>
          <a:prstGeom prst="roundRect">
            <a:avLst>
              <a:gd name="adj" fmla="val 4286"/>
            </a:avLst>
          </a:prstGeom>
          <a:solidFill>
            <a:srgbClr val="F4F7F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691640"/>
            <a:ext cx="3393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6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423160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demoed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99178" y="1645920"/>
            <a:ext cx="3393338" cy="1280160"/>
          </a:xfrm>
          <a:prstGeom prst="roundRect">
            <a:avLst>
              <a:gd name="adj" fmla="val 4286"/>
            </a:avLst>
          </a:prstGeom>
          <a:solidFill>
            <a:srgbClr val="F4F7F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399178" y="1691640"/>
            <a:ext cx="3393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6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4399178" y="2423160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Areas modeled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49717" y="1645920"/>
            <a:ext cx="3393338" cy="1280160"/>
          </a:xfrm>
          <a:prstGeom prst="roundRect">
            <a:avLst>
              <a:gd name="adj" fmla="val 4286"/>
            </a:avLst>
          </a:prstGeom>
          <a:solidFill>
            <a:srgbClr val="F4F7F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49717" y="1691640"/>
            <a:ext cx="3393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6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8249717" y="2423160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safeguards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246120"/>
            <a:ext cx="5318608" cy="2606040"/>
          </a:xfrm>
          <a:prstGeom prst="roundRect">
            <a:avLst>
              <a:gd name="adj" fmla="val 2105"/>
            </a:avLst>
          </a:prstGeom>
          <a:solidFill>
            <a:srgbClr val="F4F7F5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2960" y="347472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grows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931920"/>
            <a:ext cx="47699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data is fully configurable — demo already spans Nairobi, Kisumu, Pretoria, and Durban</a:t>
            </a:r>
            <a:endParaRPr lang="en-US" sz="12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layer extends the same way Swahili was added, for any language Claude supports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324448" y="3246120"/>
            <a:ext cx="5318608" cy="2606040"/>
          </a:xfrm>
          <a:prstGeom prst="roundRect">
            <a:avLst>
              <a:gd name="adj" fmla="val 2105"/>
            </a:avLst>
          </a:prstGeom>
          <a:solidFill>
            <a:srgbClr val="F4F7F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98768" y="347472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598768" y="3931920"/>
            <a:ext cx="47699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700"/>
              </a:spcAft>
              <a:buSzPct val="100000"/>
              <a:buChar char="●"/>
            </a:pPr>
            <a:r>
              <a:rPr lang="en-US" sz="12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fallback for people without WhatsApp/data access</a:t>
            </a:r>
            <a:endParaRPr lang="en-US" sz="1200" dirty="0"/>
          </a:p>
          <a:p>
            <a:pPr marL="228600" indent="-228600">
              <a:spcAft>
                <a:spcPts val="700"/>
              </a:spcAft>
              <a:buSzPct val="100000"/>
              <a:buChar char="●"/>
            </a:pPr>
            <a:r>
              <a:rPr lang="en-US" sz="12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database + authenticated verifier accounts</a:t>
            </a:r>
            <a:endParaRPr lang="en-US" sz="1200" dirty="0"/>
          </a:p>
          <a:p>
            <a:pPr marL="228600" indent="-228600">
              <a:spcAft>
                <a:spcPts val="700"/>
              </a:spcAft>
              <a:buSzPct val="100000"/>
              <a:buChar char="●"/>
            </a:pPr>
            <a:r>
              <a:rPr lang="en-US" sz="12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Rate-limiting / anomaly detection on report floods</a:t>
            </a:r>
            <a:endParaRPr lang="en-US" sz="1200" dirty="0"/>
          </a:p>
          <a:p>
            <a:pPr marL="228600" indent="-228600">
              <a:spcAft>
                <a:spcPts val="700"/>
              </a:spcAft>
              <a:buSzPct val="100000"/>
              <a:buChar char="●"/>
            </a:pPr>
            <a:r>
              <a:rPr lang="en-US" sz="12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detection from public social and news mentions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3" y="605333"/>
            <a:ext cx="362102" cy="3621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34747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LASTS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6217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outlast one news cycle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566928" cy="56692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199" y="1910639"/>
            <a:ext cx="311810" cy="31181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175564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Reusable, not one-off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4206240" y="1737360"/>
            <a:ext cx="74368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an area calms down, the deployment keeps running quietly in Green mode, ready for the next flare-up. A new hotspot is a config change, not a rebuild.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3200400"/>
            <a:ext cx="566928" cy="56692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199" y="3327959"/>
            <a:ext cx="311810" cy="31181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25880" y="317296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last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4206240" y="3154680"/>
            <a:ext cx="74368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Ushahidi pioneered crowd-mapping from Kenya's 2007 election violence, and its own research flags sustained unpaid moderation as the long-term strain. Amani Africa deliberately avoids that shape - a small, named, cross-community verifier role inside an existing peace-committee mandate, not a volunteer corps built from scratch.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548640" y="4617720"/>
            <a:ext cx="566928" cy="56692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199" y="4745279"/>
            <a:ext cx="311810" cy="31181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325880" y="45902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one region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4206240" y="4572000"/>
            <a:ext cx="74368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rumor-driven tension pattern shows up in DRC intercommunal disputes and elsewhere. Scoped honestly: built for pre-escalation tension, not for operating inside active armed conflict.</a:t>
            </a:r>
            <a:endParaRPr lang="en-US" sz="1250" dirty="0"/>
          </a:p>
        </p:txBody>
      </p:sp>
      <p:sp>
        <p:nvSpPr>
          <p:cNvPr id="18" name="Text 12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6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8503920" y="457200"/>
            <a:ext cx="2743200" cy="2743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6400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FC7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DEVELOPING FURTHER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9601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822960" y="192024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1F332A"/>
          </a:solidFill>
          <a:ln/>
        </p:spPr>
      </p:sp>
      <p:sp>
        <p:nvSpPr>
          <p:cNvPr id="6" name="Shape 3"/>
          <p:cNvSpPr/>
          <p:nvPr/>
        </p:nvSpPr>
        <p:spPr>
          <a:xfrm>
            <a:off x="987552" y="1993392"/>
            <a:ext cx="530352" cy="530352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881" y="2112721"/>
            <a:ext cx="291694" cy="29169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00784" y="192024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database (Postgres) instead of in-memory storage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274320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1F332A"/>
          </a:solidFill>
          <a:ln/>
        </p:spPr>
      </p:sp>
      <p:sp>
        <p:nvSpPr>
          <p:cNvPr id="10" name="Shape 6"/>
          <p:cNvSpPr/>
          <p:nvPr/>
        </p:nvSpPr>
        <p:spPr>
          <a:xfrm>
            <a:off x="987552" y="2816352"/>
            <a:ext cx="530352" cy="530352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881" y="2935681"/>
            <a:ext cx="291694" cy="29169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700784" y="274320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Authenticated, enforced cross-community verifier accounts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822960" y="356616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1F332A"/>
          </a:solidFill>
          <a:ln/>
        </p:spPr>
      </p:sp>
      <p:sp>
        <p:nvSpPr>
          <p:cNvPr id="14" name="Shape 9"/>
          <p:cNvSpPr/>
          <p:nvPr/>
        </p:nvSpPr>
        <p:spPr>
          <a:xfrm>
            <a:off x="987552" y="3639312"/>
            <a:ext cx="530352" cy="530352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881" y="3758641"/>
            <a:ext cx="291694" cy="29169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00784" y="356616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rumor detection from public social and news sources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822960" y="448056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FC9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"Information people can trust, before rumor becomes violence."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822960" y="5074920"/>
            <a:ext cx="384048" cy="384048"/>
          </a:xfrm>
          <a:prstGeom prst="ellipse">
            <a:avLst/>
          </a:prstGeom>
          <a:solidFill>
            <a:srgbClr val="1F332A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70" y="5151730"/>
            <a:ext cx="230429" cy="230429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353312" y="507492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github.com/peetlucas/amani-africa</a:t>
            </a:r>
            <a:endParaRPr lang="en-US" sz="1400" dirty="0"/>
          </a:p>
        </p:txBody>
      </p:sp>
      <p:sp>
        <p:nvSpPr>
          <p:cNvPr id="21" name="Text 14"/>
          <p:cNvSpPr txBox="1"/>
          <p:nvPr/>
        </p:nvSpPr>
        <p:spPr>
          <a:xfrm>
            <a:off x="822960" y="60807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C7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to the judges, OSF, and Andela for the opportunity.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2026-09-21T12:15:45Z</dcterms:created>
  <dcterms:modified xsi:type="dcterms:W3CDTF">2026-09-21T12:15:45Z</dcterms:modified>
</cp:coreProperties>
</file>